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2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14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27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16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52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01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10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03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22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97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6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79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296D6-456E-4817-A95E-8D517115A4D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6ADB8-26CD-4916-BDC3-6D245CE55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30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ev-estm.fanfandaero.kr:9443/" TargetMode="External"/><Relationship Id="rId3" Type="http://schemas.openxmlformats.org/officeDocument/2006/relationships/hyperlink" Target="https://dev.fanfandaero.kr:9443/admin/login.do" TargetMode="External"/><Relationship Id="rId7" Type="http://schemas.openxmlformats.org/officeDocument/2006/relationships/hyperlink" Target="https://dev-econ.fanfandaero.kr:9444/" TargetMode="External"/><Relationship Id="rId2" Type="http://schemas.openxmlformats.org/officeDocument/2006/relationships/hyperlink" Target="https://dev.fanfandaero.kr:944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con.fanfandaero.kr:9443/" TargetMode="External"/><Relationship Id="rId11" Type="http://schemas.openxmlformats.org/officeDocument/2006/relationships/hyperlink" Target="https://econ.fanfandaero.kr/" TargetMode="External"/><Relationship Id="rId5" Type="http://schemas.openxmlformats.org/officeDocument/2006/relationships/hyperlink" Target="https://dev-data.fanfandaero.kr:9443/" TargetMode="External"/><Relationship Id="rId10" Type="http://schemas.openxmlformats.org/officeDocument/2006/relationships/hyperlink" Target="https://data.fanfandaero.kr/" TargetMode="External"/><Relationship Id="rId4" Type="http://schemas.openxmlformats.org/officeDocument/2006/relationships/hyperlink" Target="https://data.fanfandaero.kr:9443/" TargetMode="External"/><Relationship Id="rId9" Type="http://schemas.openxmlformats.org/officeDocument/2006/relationships/hyperlink" Target="https://mail.fanfandaero.kr:909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tepad-plus-plus/notepad-plus-plus/releases/download/v8.8.7/npp.8.8.7.Installer.x64.exe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통합테스트 개발 환경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2025.11.18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39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8FD9F37-4EF5-3139-428B-A0795E4FC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448226"/>
              </p:ext>
            </p:extLst>
          </p:nvPr>
        </p:nvGraphicFramePr>
        <p:xfrm>
          <a:off x="417786" y="1288915"/>
          <a:ext cx="11353800" cy="515733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74948">
                  <a:extLst>
                    <a:ext uri="{9D8B030D-6E8A-4147-A177-3AD203B41FA5}">
                      <a16:colId xmlns:a16="http://schemas.microsoft.com/office/drawing/2014/main" val="1195901059"/>
                    </a:ext>
                  </a:extLst>
                </a:gridCol>
                <a:gridCol w="970263">
                  <a:extLst>
                    <a:ext uri="{9D8B030D-6E8A-4147-A177-3AD203B41FA5}">
                      <a16:colId xmlns:a16="http://schemas.microsoft.com/office/drawing/2014/main" val="1582367905"/>
                    </a:ext>
                  </a:extLst>
                </a:gridCol>
                <a:gridCol w="774948">
                  <a:extLst>
                    <a:ext uri="{9D8B030D-6E8A-4147-A177-3AD203B41FA5}">
                      <a16:colId xmlns:a16="http://schemas.microsoft.com/office/drawing/2014/main" val="1336189850"/>
                    </a:ext>
                  </a:extLst>
                </a:gridCol>
                <a:gridCol w="614995">
                  <a:extLst>
                    <a:ext uri="{9D8B030D-6E8A-4147-A177-3AD203B41FA5}">
                      <a16:colId xmlns:a16="http://schemas.microsoft.com/office/drawing/2014/main" val="3902278404"/>
                    </a:ext>
                  </a:extLst>
                </a:gridCol>
                <a:gridCol w="1270415">
                  <a:extLst>
                    <a:ext uri="{9D8B030D-6E8A-4147-A177-3AD203B41FA5}">
                      <a16:colId xmlns:a16="http://schemas.microsoft.com/office/drawing/2014/main" val="3841089166"/>
                    </a:ext>
                  </a:extLst>
                </a:gridCol>
                <a:gridCol w="3992237">
                  <a:extLst>
                    <a:ext uri="{9D8B030D-6E8A-4147-A177-3AD203B41FA5}">
                      <a16:colId xmlns:a16="http://schemas.microsoft.com/office/drawing/2014/main" val="3358903057"/>
                    </a:ext>
                  </a:extLst>
                </a:gridCol>
                <a:gridCol w="2955994">
                  <a:extLst>
                    <a:ext uri="{9D8B030D-6E8A-4147-A177-3AD203B41FA5}">
                      <a16:colId xmlns:a16="http://schemas.microsoft.com/office/drawing/2014/main" val="1720466023"/>
                    </a:ext>
                  </a:extLst>
                </a:gridCol>
              </a:tblGrid>
              <a:tr h="5648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네임서버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시스템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유형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종류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등록서버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접속 </a:t>
                      </a:r>
                      <a:r>
                        <a:rPr lang="en-US" sz="1200" u="none" strike="noStrike">
                          <a:effectLst/>
                        </a:rPr>
                        <a:t>URL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비고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654844"/>
                  </a:ext>
                </a:extLst>
              </a:tr>
              <a:tr h="319231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NS</a:t>
                      </a:r>
                      <a:br>
                        <a:rPr lang="en-US" sz="1200" u="none" strike="noStrike">
                          <a:effectLst/>
                        </a:rPr>
                      </a:br>
                      <a:r>
                        <a:rPr lang="ko-KR" altLang="en-US" sz="1200" u="none" strike="noStrike">
                          <a:effectLst/>
                        </a:rPr>
                        <a:t>한유원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vert="ea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판판대로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개발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사용자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192.168.201.8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  <a:hlinkClick r:id="rId2"/>
                        </a:rPr>
                        <a:t>https://dev.fanfandaero.kr:9443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현재 </a:t>
                      </a:r>
                      <a:r>
                        <a:rPr lang="en-US" altLang="ko-KR" sz="1000" u="none" strike="noStrike">
                          <a:effectLst/>
                        </a:rPr>
                        <a:t>Port 443. </a:t>
                      </a:r>
                      <a:r>
                        <a:rPr lang="ko-KR" altLang="en-US" sz="1000" u="none" strike="noStrike">
                          <a:effectLst/>
                        </a:rPr>
                        <a:t>방화벽 작업 완료 후 변경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658653"/>
                  </a:ext>
                </a:extLst>
              </a:tr>
              <a:tr h="3192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개발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관리자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192.168.201.8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  <a:hlinkClick r:id="rId3"/>
                        </a:rPr>
                        <a:t>https://dev.fanfandaero.kr:9443/admin/login.do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현재 </a:t>
                      </a:r>
                      <a:r>
                        <a:rPr lang="en-US" altLang="ko-KR" sz="1000" u="none" strike="noStrike">
                          <a:effectLst/>
                        </a:rPr>
                        <a:t>Port 443. </a:t>
                      </a:r>
                      <a:r>
                        <a:rPr lang="ko-KR" altLang="en-US" sz="1000" u="none" strike="noStrike">
                          <a:effectLst/>
                        </a:rPr>
                        <a:t>방화벽 작업 완료 후 변경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36289"/>
                  </a:ext>
                </a:extLst>
              </a:tr>
              <a:tr h="3192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데이터관리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운영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관리자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192.168.201.37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  <a:hlinkClick r:id="rId4"/>
                        </a:rPr>
                        <a:t>https://data.fanfandaero.kr:9443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현재 </a:t>
                      </a:r>
                      <a:r>
                        <a:rPr lang="en-US" altLang="ko-KR" sz="1000" u="none" strike="noStrike">
                          <a:effectLst/>
                        </a:rPr>
                        <a:t>Port 8443. </a:t>
                      </a:r>
                      <a:r>
                        <a:rPr lang="ko-KR" altLang="en-US" sz="1000" u="none" strike="noStrike">
                          <a:effectLst/>
                        </a:rPr>
                        <a:t>방화벽 작업 완료 후 변경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20632"/>
                  </a:ext>
                </a:extLst>
              </a:tr>
              <a:tr h="3192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개발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관리자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192.168.201.9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  <a:hlinkClick r:id="rId5"/>
                        </a:rPr>
                        <a:t>https://dev-data.fanfandaero.kr:9443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현재 </a:t>
                      </a:r>
                      <a:r>
                        <a:rPr lang="en-US" altLang="ko-KR" sz="1000" u="none" strike="noStrike">
                          <a:effectLst/>
                        </a:rPr>
                        <a:t>Port 8443. </a:t>
                      </a:r>
                      <a:r>
                        <a:rPr lang="ko-KR" altLang="en-US" sz="1000" u="none" strike="noStrike">
                          <a:effectLst/>
                        </a:rPr>
                        <a:t>방화벽 작업 완료 후 변경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443975"/>
                  </a:ext>
                </a:extLst>
              </a:tr>
              <a:tr h="3192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전자계약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운영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관리자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192.168.201.36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  <a:hlinkClick r:id="rId6"/>
                        </a:rPr>
                        <a:t>https://econ.fanfandaero.kr:9443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528937"/>
                  </a:ext>
                </a:extLst>
              </a:tr>
              <a:tr h="3192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개발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관리자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192.168.201.8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  <a:hlinkClick r:id="rId7"/>
                        </a:rPr>
                        <a:t>https://dev-econ.fanfandaero.kr:9444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728664"/>
                  </a:ext>
                </a:extLst>
              </a:tr>
              <a:tr h="6631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평가관리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개발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관리자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192.168.201.9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  <a:hlinkClick r:id="rId8"/>
                        </a:rPr>
                        <a:t>https://dev-estm.fanfandaero.kr:9443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* 운영 도메인 </a:t>
                      </a:r>
                      <a:r>
                        <a:rPr lang="en-US" altLang="ko-KR" sz="1000" u="none" strike="noStrike">
                          <a:effectLst/>
                        </a:rPr>
                        <a:t>: https://estmi.kodma.or.kr</a:t>
                      </a:r>
                      <a:br>
                        <a:rPr lang="en-US" altLang="ko-KR" sz="1000" u="none" strike="noStrike">
                          <a:effectLst/>
                        </a:rPr>
                      </a:br>
                      <a:r>
                        <a:rPr lang="en-US" altLang="ko-KR" sz="1000" u="none" strike="noStrike">
                          <a:effectLst/>
                        </a:rPr>
                        <a:t>kodma </a:t>
                      </a:r>
                      <a:r>
                        <a:rPr lang="ko-KR" altLang="en-US" sz="1000" u="none" strike="noStrike">
                          <a:effectLst/>
                        </a:rPr>
                        <a:t>또는 </a:t>
                      </a:r>
                      <a:r>
                        <a:rPr lang="en-US" altLang="ko-KR" sz="1000" u="none" strike="noStrike">
                          <a:effectLst/>
                        </a:rPr>
                        <a:t>fanfandaero</a:t>
                      </a:r>
                      <a:r>
                        <a:rPr lang="ko-KR" altLang="en-US" sz="1000" u="none" strike="noStrike">
                          <a:effectLst/>
                        </a:rPr>
                        <a:t>에 대한 도메인 결정 필요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1471044"/>
                  </a:ext>
                </a:extLst>
              </a:tr>
              <a:tr h="564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전자메일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운영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관리자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192.168.201.17</a:t>
                      </a:r>
                      <a:br>
                        <a:rPr lang="en-US" altLang="ko-KR" sz="1200" u="none" strike="noStrike">
                          <a:effectLst/>
                        </a:rPr>
                      </a:br>
                      <a:r>
                        <a:rPr lang="en-US" altLang="ko-KR" sz="1200" u="none" strike="noStrike">
                          <a:effectLst/>
                        </a:rPr>
                        <a:t>192.168.201.25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  <a:hlinkClick r:id="rId9"/>
                        </a:rPr>
                        <a:t>https://mail.fanfandaero.kr:9090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id : admin / pw : tg1234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704101"/>
                  </a:ext>
                </a:extLst>
              </a:tr>
              <a:tr h="56489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NS</a:t>
                      </a:r>
                      <a:br>
                        <a:rPr lang="en-US" sz="1200" u="none" strike="noStrike">
                          <a:effectLst/>
                        </a:rPr>
                      </a:br>
                      <a:r>
                        <a:rPr lang="ko-KR" altLang="en-US" sz="1200" u="none" strike="noStrike">
                          <a:effectLst/>
                        </a:rPr>
                        <a:t>클라우드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vert="ea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전자메일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운영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관리자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192.168.201.17</a:t>
                      </a:r>
                      <a:br>
                        <a:rPr lang="en-US" altLang="ko-KR" sz="1200" u="none" strike="noStrike">
                          <a:effectLst/>
                        </a:rPr>
                      </a:br>
                      <a:r>
                        <a:rPr lang="en-US" altLang="ko-KR" sz="1200" u="none" strike="noStrike">
                          <a:effectLst/>
                        </a:rPr>
                        <a:t>192.168.201.25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sng" strike="noStrike">
                          <a:effectLst/>
                          <a:hlinkClick r:id="rId9"/>
                        </a:rPr>
                        <a:t>https://mail.fanfandaero.kr:9090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415822"/>
                  </a:ext>
                </a:extLst>
              </a:tr>
              <a:tr h="564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데이터관리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운영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사용자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27.96.154.88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hlinkClick r:id="rId10"/>
                        </a:rPr>
                        <a:t>https://data.fanfandaero.kr:443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sz="1200" u="none" strike="noStrike">
                        <a:effectLst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980132"/>
                  </a:ext>
                </a:extLst>
              </a:tr>
              <a:tr h="3192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전자계약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운영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</a:rPr>
                        <a:t>사용자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27.96.154.87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hlinkClick r:id="rId11"/>
                        </a:rPr>
                        <a:t>https://econ.fanfandaero.kr:443</a:t>
                      </a:r>
                      <a:r>
                        <a:rPr lang="en-US" sz="1200" u="none" strike="noStrike">
                          <a:effectLst/>
                        </a:rPr>
                        <a:t>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48" marR="11048" marT="110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1728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BFE570-799F-5522-056B-4E120493923B}"/>
              </a:ext>
            </a:extLst>
          </p:cNvPr>
          <p:cNvSpPr txBox="1"/>
          <p:nvPr/>
        </p:nvSpPr>
        <p:spPr>
          <a:xfrm>
            <a:off x="534569" y="377841"/>
            <a:ext cx="639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highlight>
                  <a:srgbClr val="FFFF00"/>
                </a:highlight>
              </a:rPr>
              <a:t>1. </a:t>
            </a:r>
            <a:r>
              <a:rPr lang="ko-KR" altLang="en-US" b="1">
                <a:highlight>
                  <a:srgbClr val="FFFF00"/>
                </a:highlight>
              </a:rPr>
              <a:t>접속 </a:t>
            </a:r>
            <a:r>
              <a:rPr lang="en-US" altLang="ko-KR" b="1">
                <a:highlight>
                  <a:srgbClr val="FFFF00"/>
                </a:highlight>
              </a:rPr>
              <a:t>URL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56B4DC-0724-A341-9EC3-D25B9842C716}"/>
              </a:ext>
            </a:extLst>
          </p:cNvPr>
          <p:cNvSpPr txBox="1"/>
          <p:nvPr/>
        </p:nvSpPr>
        <p:spPr>
          <a:xfrm>
            <a:off x="417786" y="944730"/>
            <a:ext cx="110759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/>
              <a:t>정보보안파트에서 방화벽이 열려져 있지 않는 경우 접속이 불가함</a:t>
            </a:r>
            <a:r>
              <a:rPr lang="en-US" altLang="ko-KR" sz="1500"/>
              <a:t>. </a:t>
            </a:r>
            <a:r>
              <a:rPr lang="ko-KR" altLang="en-US" sz="1500"/>
              <a:t>현재 방화벽 작업 중임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836670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597285" y="2066484"/>
            <a:ext cx="4853078" cy="3977474"/>
            <a:chOff x="746754" y="1212919"/>
            <a:chExt cx="4853078" cy="397747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754" y="1212919"/>
              <a:ext cx="4853078" cy="3977474"/>
            </a:xfrm>
            <a:prstGeom prst="rect">
              <a:avLst/>
            </a:prstGeom>
          </p:spPr>
        </p:pic>
        <p:sp>
          <p:nvSpPr>
            <p:cNvPr id="6" name="모서리가 둥근 직사각형 5"/>
            <p:cNvSpPr/>
            <p:nvPr/>
          </p:nvSpPr>
          <p:spPr>
            <a:xfrm>
              <a:off x="1907930" y="1907930"/>
              <a:ext cx="1274885" cy="254977"/>
            </a:xfrm>
            <a:prstGeom prst="roundRect">
              <a:avLst>
                <a:gd name="adj" fmla="val 40805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881568" y="4698023"/>
              <a:ext cx="1274885" cy="254977"/>
            </a:xfrm>
            <a:prstGeom prst="roundRect">
              <a:avLst>
                <a:gd name="adj" fmla="val 40805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3080239" y="2851820"/>
              <a:ext cx="1351085" cy="243254"/>
            </a:xfrm>
            <a:prstGeom prst="roundRect">
              <a:avLst>
                <a:gd name="adj" fmla="val 40805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4003430" y="3798185"/>
              <a:ext cx="594947" cy="322751"/>
            </a:xfrm>
            <a:prstGeom prst="roundRect">
              <a:avLst>
                <a:gd name="adj" fmla="val 40805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칠각형 9"/>
            <p:cNvSpPr/>
            <p:nvPr/>
          </p:nvSpPr>
          <p:spPr>
            <a:xfrm>
              <a:off x="746754" y="4607169"/>
              <a:ext cx="246184" cy="246184"/>
            </a:xfrm>
            <a:prstGeom prst="heptag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11" name="칠각형 10"/>
            <p:cNvSpPr/>
            <p:nvPr/>
          </p:nvSpPr>
          <p:spPr>
            <a:xfrm>
              <a:off x="1840522" y="1789234"/>
              <a:ext cx="246184" cy="246184"/>
            </a:xfrm>
            <a:prstGeom prst="heptag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12" name="칠각형 11"/>
            <p:cNvSpPr/>
            <p:nvPr/>
          </p:nvSpPr>
          <p:spPr>
            <a:xfrm>
              <a:off x="3880338" y="3713010"/>
              <a:ext cx="246184" cy="246184"/>
            </a:xfrm>
            <a:prstGeom prst="heptag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3</a:t>
              </a:r>
              <a:endParaRPr lang="ko-KR" altLang="en-US" sz="1200" dirty="0"/>
            </a:p>
          </p:txBody>
        </p:sp>
        <p:sp>
          <p:nvSpPr>
            <p:cNvPr id="13" name="칠각형 12"/>
            <p:cNvSpPr/>
            <p:nvPr/>
          </p:nvSpPr>
          <p:spPr>
            <a:xfrm>
              <a:off x="3006970" y="2728728"/>
              <a:ext cx="246184" cy="246184"/>
            </a:xfrm>
            <a:prstGeom prst="heptag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4</a:t>
              </a:r>
              <a:endParaRPr lang="ko-KR" altLang="en-US" sz="1200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34569" y="272741"/>
            <a:ext cx="639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highlight>
                  <a:srgbClr val="FFFF00"/>
                </a:highlight>
              </a:rPr>
              <a:t>2. hosts</a:t>
            </a:r>
            <a:r>
              <a:rPr lang="ko-KR" altLang="en-US" b="1">
                <a:highlight>
                  <a:srgbClr val="FFFF00"/>
                </a:highlight>
              </a:rPr>
              <a:t> 파일 등록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2100" y="627485"/>
            <a:ext cx="110759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/>
              <a:t>도메인 등록 완료 전에는 호스트 파일에 등록하여야 접속이 가능</a:t>
            </a:r>
            <a:endParaRPr lang="en-US" altLang="ko-KR" sz="1500"/>
          </a:p>
          <a:p>
            <a:endParaRPr lang="en-US" altLang="ko-KR" sz="1500"/>
          </a:p>
          <a:p>
            <a:r>
              <a:rPr lang="en-US" altLang="ko-KR" sz="1500">
                <a:solidFill>
                  <a:srgbClr val="FF0000"/>
                </a:solidFill>
              </a:rPr>
              <a:t>hosts </a:t>
            </a:r>
            <a:r>
              <a:rPr lang="ko-KR" altLang="en-US" sz="1500" dirty="0">
                <a:solidFill>
                  <a:srgbClr val="FF0000"/>
                </a:solidFill>
              </a:rPr>
              <a:t>파일은 보안상 관리자 권한으로 실행해야 내용이 </a:t>
            </a:r>
            <a:r>
              <a:rPr lang="ko-KR" altLang="en-US" sz="1500">
                <a:solidFill>
                  <a:srgbClr val="FF0000"/>
                </a:solidFill>
              </a:rPr>
              <a:t>적용됩니다</a:t>
            </a:r>
            <a:r>
              <a:rPr lang="en-US" altLang="ko-KR" sz="1500">
                <a:solidFill>
                  <a:srgbClr val="FF0000"/>
                </a:solidFill>
              </a:rPr>
              <a:t>.</a:t>
            </a:r>
            <a:endParaRPr lang="en-US" altLang="ko-KR" sz="1500" dirty="0">
              <a:solidFill>
                <a:srgbClr val="FF0000"/>
              </a:solidFill>
            </a:endParaRPr>
          </a:p>
          <a:p>
            <a:r>
              <a:rPr lang="en-US" altLang="ko-KR" sz="1500" dirty="0"/>
              <a:t>host</a:t>
            </a:r>
            <a:r>
              <a:rPr lang="ko-KR" altLang="en-US" sz="1500" dirty="0"/>
              <a:t>파일 경로 </a:t>
            </a:r>
            <a:r>
              <a:rPr lang="en-US" altLang="ko-KR" sz="1500" dirty="0"/>
              <a:t>: %</a:t>
            </a:r>
            <a:r>
              <a:rPr lang="en-US" altLang="ko-KR" sz="1500" dirty="0" err="1"/>
              <a:t>systemroot</a:t>
            </a:r>
            <a:r>
              <a:rPr lang="en-US" altLang="ko-KR" sz="1500" dirty="0"/>
              <a:t>%\system32\drivers\</a:t>
            </a:r>
            <a:r>
              <a:rPr lang="en-US" altLang="ko-KR" sz="1500" dirty="0" err="1"/>
              <a:t>etc</a:t>
            </a:r>
            <a:r>
              <a:rPr lang="en-US" altLang="ko-KR" sz="1500" dirty="0"/>
              <a:t>\hosts</a:t>
            </a:r>
            <a:endParaRPr lang="ko-KR" altLang="en-US" sz="1500" dirty="0"/>
          </a:p>
        </p:txBody>
      </p:sp>
      <p:grpSp>
        <p:nvGrpSpPr>
          <p:cNvPr id="19" name="그룹 18"/>
          <p:cNvGrpSpPr/>
          <p:nvPr/>
        </p:nvGrpSpPr>
        <p:grpSpPr>
          <a:xfrm>
            <a:off x="5815954" y="2174695"/>
            <a:ext cx="3715623" cy="2387111"/>
            <a:chOff x="6032622" y="2260537"/>
            <a:chExt cx="4434651" cy="3002573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2622" y="2260537"/>
              <a:ext cx="4434651" cy="3002573"/>
            </a:xfrm>
            <a:prstGeom prst="rect">
              <a:avLst/>
            </a:prstGeom>
          </p:spPr>
        </p:pic>
        <p:sp>
          <p:nvSpPr>
            <p:cNvPr id="18" name="모서리가 둥근 직사각형 17"/>
            <p:cNvSpPr/>
            <p:nvPr/>
          </p:nvSpPr>
          <p:spPr>
            <a:xfrm>
              <a:off x="6757761" y="4710754"/>
              <a:ext cx="2438993" cy="283277"/>
            </a:xfrm>
            <a:prstGeom prst="roundRect">
              <a:avLst>
                <a:gd name="adj" fmla="val 40805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1576" y="2174694"/>
            <a:ext cx="2473321" cy="23871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83268" y="4837069"/>
            <a:ext cx="51675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########### </a:t>
            </a:r>
            <a:r>
              <a:rPr lang="en-US" altLang="ko-KR" sz="1200" dirty="0" err="1"/>
              <a:t>fanfandaero</a:t>
            </a:r>
            <a:r>
              <a:rPr lang="en-US" altLang="ko-KR" sz="1200" dirty="0"/>
              <a:t> ###########</a:t>
            </a:r>
          </a:p>
          <a:p>
            <a:r>
              <a:rPr lang="en-US" altLang="ko-KR" sz="1200" dirty="0"/>
              <a:t>192.168.201.8	dev.fanfandaero.kr</a:t>
            </a:r>
          </a:p>
          <a:p>
            <a:r>
              <a:rPr lang="en-US" altLang="ko-KR" sz="1200" dirty="0"/>
              <a:t>192.168.201.8	dev-econ.fanfandaero.kr</a:t>
            </a:r>
          </a:p>
          <a:p>
            <a:r>
              <a:rPr lang="en-US" altLang="ko-KR" sz="1200" dirty="0"/>
              <a:t>#192.168.201.9	dev-data.fanfandaero.kr #25.08.12 </a:t>
            </a:r>
            <a:r>
              <a:rPr lang="en-US" altLang="ko-KR" sz="1200" dirty="0" err="1"/>
              <a:t>dns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reg</a:t>
            </a:r>
            <a:endParaRPr lang="en-US" altLang="ko-KR" sz="1200" dirty="0"/>
          </a:p>
          <a:p>
            <a:r>
              <a:rPr lang="en-US" altLang="ko-KR" sz="1200" dirty="0"/>
              <a:t>192.168.201.35	dev-ksf.fanfandaero.kr</a:t>
            </a:r>
          </a:p>
          <a:p>
            <a:r>
              <a:rPr lang="en-US" altLang="ko-KR" sz="1200" dirty="0"/>
              <a:t>192.168.201.9	dev-estm.fanfandaero.kr</a:t>
            </a:r>
          </a:p>
          <a:p>
            <a:endParaRPr lang="en-US" altLang="ko-KR" sz="1200" dirty="0"/>
          </a:p>
          <a:p>
            <a:r>
              <a:rPr lang="en-US" altLang="ko-KR" sz="1200" dirty="0"/>
              <a:t>192.168.201.37	data.fanfandaero.kr</a:t>
            </a:r>
          </a:p>
          <a:p>
            <a:r>
              <a:rPr lang="en-US" altLang="ko-KR" sz="1200" dirty="0"/>
              <a:t>192.168.201.36	econ.fanfandaero.kr</a:t>
            </a:r>
          </a:p>
          <a:p>
            <a:r>
              <a:rPr lang="en-US" altLang="ko-KR" sz="1200" dirty="0"/>
              <a:t>192.168.201.17	mail.fanfandaero.kr	#192.168.201.25</a:t>
            </a:r>
            <a:endParaRPr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09D42-D0FE-00E9-FA00-9066B6E5BDB2}"/>
              </a:ext>
            </a:extLst>
          </p:cNvPr>
          <p:cNvSpPr txBox="1"/>
          <p:nvPr/>
        </p:nvSpPr>
        <p:spPr>
          <a:xfrm>
            <a:off x="558312" y="1742556"/>
            <a:ext cx="48530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/>
              <a:t>[</a:t>
            </a:r>
            <a:r>
              <a:rPr lang="ko-KR" altLang="en-US" sz="1500"/>
              <a:t>그림 </a:t>
            </a:r>
            <a:r>
              <a:rPr lang="en-US" altLang="ko-KR" sz="1500"/>
              <a:t>1] </a:t>
            </a:r>
            <a:r>
              <a:rPr lang="ko-KR" altLang="en-US" sz="1500"/>
              <a:t>관리자 권한 실행 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718DF-7892-62BE-0F5F-5B6D1959B652}"/>
              </a:ext>
            </a:extLst>
          </p:cNvPr>
          <p:cNvSpPr txBox="1"/>
          <p:nvPr/>
        </p:nvSpPr>
        <p:spPr>
          <a:xfrm>
            <a:off x="5712068" y="1742556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/>
              <a:t>[</a:t>
            </a:r>
            <a:r>
              <a:rPr lang="ko-KR" altLang="en-US" sz="1500"/>
              <a:t>그림 </a:t>
            </a:r>
            <a:r>
              <a:rPr lang="en-US" altLang="ko-KR" sz="1500"/>
              <a:t>2] hosts </a:t>
            </a:r>
            <a:r>
              <a:rPr lang="ko-KR" altLang="en-US" sz="1500"/>
              <a:t>파일 열기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8F055-1C59-6193-9B95-9FC60101DB87}"/>
              </a:ext>
            </a:extLst>
          </p:cNvPr>
          <p:cNvSpPr txBox="1"/>
          <p:nvPr/>
        </p:nvSpPr>
        <p:spPr>
          <a:xfrm>
            <a:off x="5815954" y="458415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138" indent="-84138">
              <a:buFont typeface="Wingdings" panose="05000000000000000000" pitchFamily="2" charset="2"/>
              <a:buChar char="§"/>
            </a:pPr>
            <a:r>
              <a:rPr lang="en-US" altLang="ko-KR" sz="1400" b="1"/>
              <a:t>hosts </a:t>
            </a:r>
            <a:r>
              <a:rPr lang="ko-KR" altLang="en-US" sz="1400" b="1"/>
              <a:t>파일 등록 리스트</a:t>
            </a:r>
            <a:r>
              <a:rPr lang="en-US" altLang="ko-KR" sz="1400" b="1"/>
              <a:t>(</a:t>
            </a:r>
            <a:r>
              <a:rPr lang="ko-KR" altLang="en-US" sz="1400" b="1"/>
              <a:t>복사해서 붙어넣기</a:t>
            </a:r>
            <a:r>
              <a:rPr lang="en-US" altLang="ko-KR" sz="1400" b="1"/>
              <a:t>)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217998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69" y="2913093"/>
            <a:ext cx="6017237" cy="32894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85B5AD-A3C5-F068-781E-CBD211838470}"/>
              </a:ext>
            </a:extLst>
          </p:cNvPr>
          <p:cNvSpPr txBox="1"/>
          <p:nvPr/>
        </p:nvSpPr>
        <p:spPr>
          <a:xfrm>
            <a:off x="534569" y="272741"/>
            <a:ext cx="639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highlight>
                  <a:srgbClr val="FFFF00"/>
                </a:highlight>
              </a:rPr>
              <a:t>3. hosts</a:t>
            </a:r>
            <a:r>
              <a:rPr lang="ko-KR" altLang="en-US" b="1">
                <a:highlight>
                  <a:srgbClr val="FFFF00"/>
                </a:highlight>
              </a:rPr>
              <a:t> 쉬운 사용 및 등록 확인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EEB02-D895-930A-5429-3329415DAB9E}"/>
              </a:ext>
            </a:extLst>
          </p:cNvPr>
          <p:cNvSpPr txBox="1"/>
          <p:nvPr/>
        </p:nvSpPr>
        <p:spPr>
          <a:xfrm>
            <a:off x="732100" y="627485"/>
            <a:ext cx="1107597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/>
              <a:t>검색포탈에서</a:t>
            </a:r>
            <a:r>
              <a:rPr lang="en-US" altLang="ko-KR" sz="1500"/>
              <a:t> ‘notepad++’ </a:t>
            </a:r>
            <a:r>
              <a:rPr lang="ko-KR" altLang="en-US" sz="1500"/>
              <a:t>검색 후 검색 후 설치하여 사용하면 관리자권한 실행에 쉬움</a:t>
            </a:r>
            <a:r>
              <a:rPr lang="en-US" altLang="ko-KR" sz="1500"/>
              <a:t>(</a:t>
            </a:r>
            <a:r>
              <a:rPr lang="ko-KR" altLang="en-US" sz="1500"/>
              <a:t>라이선스 무료임</a:t>
            </a:r>
            <a:r>
              <a:rPr lang="en-US" altLang="ko-KR" sz="1500"/>
              <a:t>)</a:t>
            </a:r>
          </a:p>
          <a:p>
            <a:r>
              <a:rPr lang="en-US" altLang="ko-KR" sz="1500">
                <a:hlinkClick r:id="rId3"/>
              </a:rPr>
              <a:t>https://github.com/notepad-plus-plus/notepad-plus-plus/releases/download/v8.8.7/npp.8.8.7.Installer.x64.exe</a:t>
            </a:r>
            <a:endParaRPr lang="en-US" altLang="ko-KR" sz="1500"/>
          </a:p>
          <a:p>
            <a:endParaRPr lang="en-US" altLang="ko-KR" sz="1500"/>
          </a:p>
          <a:p>
            <a:endParaRPr lang="en-US" altLang="ko-KR" sz="1500"/>
          </a:p>
          <a:p>
            <a:r>
              <a:rPr lang="en-US" altLang="ko-KR" sz="1500">
                <a:solidFill>
                  <a:srgbClr val="FF0000"/>
                </a:solidFill>
              </a:rPr>
              <a:t>hosts </a:t>
            </a:r>
            <a:r>
              <a:rPr lang="ko-KR" altLang="en-US" sz="1500">
                <a:solidFill>
                  <a:srgbClr val="FF0000"/>
                </a:solidFill>
              </a:rPr>
              <a:t>파일</a:t>
            </a:r>
            <a:r>
              <a:rPr lang="en-US" altLang="ko-KR" sz="1500">
                <a:solidFill>
                  <a:srgbClr val="FF0000"/>
                </a:solidFill>
              </a:rPr>
              <a:t> </a:t>
            </a:r>
            <a:r>
              <a:rPr lang="ko-KR" altLang="en-US" sz="1500">
                <a:solidFill>
                  <a:srgbClr val="FF0000"/>
                </a:solidFill>
              </a:rPr>
              <a:t>열고 저장시 안내창이 뜨며</a:t>
            </a:r>
            <a:r>
              <a:rPr lang="en-US" altLang="ko-KR" sz="1500">
                <a:solidFill>
                  <a:srgbClr val="FF0000"/>
                </a:solidFill>
              </a:rPr>
              <a:t>, </a:t>
            </a:r>
            <a:r>
              <a:rPr lang="ko-KR" altLang="en-US" sz="1500">
                <a:solidFill>
                  <a:srgbClr val="FF0000"/>
                </a:solidFill>
              </a:rPr>
              <a:t>예를 클릭 후 자동 재실행되며</a:t>
            </a:r>
            <a:r>
              <a:rPr lang="en-US" altLang="ko-KR" sz="1500">
                <a:solidFill>
                  <a:srgbClr val="FF0000"/>
                </a:solidFill>
              </a:rPr>
              <a:t>, </a:t>
            </a:r>
            <a:r>
              <a:rPr lang="ko-KR" altLang="en-US" sz="1500">
                <a:solidFill>
                  <a:srgbClr val="FF0000"/>
                </a:solidFill>
              </a:rPr>
              <a:t>이때 다시 한번 저장을 실행해 주어야 합니다</a:t>
            </a:r>
            <a:r>
              <a:rPr lang="en-US" altLang="ko-KR" sz="150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1500">
                <a:solidFill>
                  <a:srgbClr val="FF0000"/>
                </a:solidFill>
                <a:sym typeface="Wingdings" panose="05000000000000000000" pitchFamily="2" charset="2"/>
              </a:rPr>
              <a:t>V3 </a:t>
            </a:r>
            <a:r>
              <a:rPr lang="ko-KR" altLang="en-US" sz="1500">
                <a:solidFill>
                  <a:srgbClr val="FF0000"/>
                </a:solidFill>
                <a:sym typeface="Wingdings" panose="05000000000000000000" pitchFamily="2" charset="2"/>
              </a:rPr>
              <a:t>설치된 경우 </a:t>
            </a:r>
            <a:r>
              <a:rPr lang="en-US" altLang="ko-KR" sz="1500">
                <a:solidFill>
                  <a:srgbClr val="FF0000"/>
                </a:solidFill>
                <a:sym typeface="Wingdings" panose="05000000000000000000" pitchFamily="2" charset="2"/>
              </a:rPr>
              <a:t>hosts </a:t>
            </a:r>
            <a:r>
              <a:rPr lang="ko-KR" altLang="en-US" sz="1500">
                <a:solidFill>
                  <a:srgbClr val="FF0000"/>
                </a:solidFill>
                <a:sym typeface="Wingdings" panose="05000000000000000000" pitchFamily="2" charset="2"/>
              </a:rPr>
              <a:t>파일</a:t>
            </a:r>
            <a:r>
              <a:rPr lang="en-US" altLang="ko-KR" sz="15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500">
                <a:solidFill>
                  <a:srgbClr val="FF0000"/>
                </a:solidFill>
                <a:sym typeface="Wingdings" panose="05000000000000000000" pitchFamily="2" charset="2"/>
              </a:rPr>
              <a:t>수정에 따른 </a:t>
            </a:r>
            <a:r>
              <a:rPr lang="en-US" altLang="ko-KR" sz="1500">
                <a:solidFill>
                  <a:srgbClr val="FF0000"/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1500">
                <a:solidFill>
                  <a:srgbClr val="FF0000"/>
                </a:solidFill>
                <a:sym typeface="Wingdings" panose="05000000000000000000" pitchFamily="2" charset="2"/>
              </a:rPr>
              <a:t>원복할까요</a:t>
            </a:r>
            <a:r>
              <a:rPr lang="en-US" altLang="ko-KR" sz="1500">
                <a:solidFill>
                  <a:srgbClr val="FF0000"/>
                </a:solidFill>
                <a:sym typeface="Wingdings" panose="05000000000000000000" pitchFamily="2" charset="2"/>
              </a:rPr>
              <a:t>?’ </a:t>
            </a:r>
            <a:r>
              <a:rPr lang="ko-KR" altLang="en-US" sz="1500">
                <a:solidFill>
                  <a:srgbClr val="FF0000"/>
                </a:solidFill>
                <a:sym typeface="Wingdings" panose="05000000000000000000" pitchFamily="2" charset="2"/>
              </a:rPr>
              <a:t>경고 창이 뜨는 경우 아니오를 클릭해야 반영됨</a:t>
            </a:r>
            <a:endParaRPr lang="en-US" altLang="ko-KR" sz="1500" dirty="0">
              <a:solidFill>
                <a:srgbClr val="FF0000"/>
              </a:solidFill>
            </a:endParaRPr>
          </a:p>
          <a:p>
            <a:r>
              <a:rPr lang="en-US" altLang="ko-KR" sz="1500" dirty="0"/>
              <a:t>host</a:t>
            </a:r>
            <a:r>
              <a:rPr lang="ko-KR" altLang="en-US" sz="1500" dirty="0"/>
              <a:t>파일 경로 </a:t>
            </a:r>
            <a:r>
              <a:rPr lang="en-US" altLang="ko-KR" sz="1500" dirty="0"/>
              <a:t>: %</a:t>
            </a:r>
            <a:r>
              <a:rPr lang="en-US" altLang="ko-KR" sz="1500" dirty="0" err="1"/>
              <a:t>systemroot</a:t>
            </a:r>
            <a:r>
              <a:rPr lang="en-US" altLang="ko-KR" sz="1500" dirty="0"/>
              <a:t>%\system32\drivers\</a:t>
            </a:r>
            <a:r>
              <a:rPr lang="en-US" altLang="ko-KR" sz="1500" dirty="0" err="1"/>
              <a:t>etc</a:t>
            </a:r>
            <a:r>
              <a:rPr lang="en-US" altLang="ko-KR" sz="1500" dirty="0"/>
              <a:t>\hosts</a:t>
            </a:r>
            <a:endParaRPr lang="ko-KR" alt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9E2A6-7F99-FC79-94BB-79409B76A6ED}"/>
              </a:ext>
            </a:extLst>
          </p:cNvPr>
          <p:cNvSpPr txBox="1"/>
          <p:nvPr/>
        </p:nvSpPr>
        <p:spPr>
          <a:xfrm>
            <a:off x="631884" y="2484825"/>
            <a:ext cx="48530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/>
              <a:t>[</a:t>
            </a:r>
            <a:r>
              <a:rPr lang="ko-KR" altLang="en-US" sz="1500"/>
              <a:t>그림 </a:t>
            </a:r>
            <a:r>
              <a:rPr lang="en-US" altLang="ko-KR" sz="1500"/>
              <a:t>1] </a:t>
            </a:r>
            <a:r>
              <a:rPr lang="ko-KR" altLang="en-US" sz="1500"/>
              <a:t>관리자 권한 자동 실행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1BEB3-1FB9-AB2D-EA1C-D8B7D8FA0BF5}"/>
              </a:ext>
            </a:extLst>
          </p:cNvPr>
          <p:cNvSpPr txBox="1"/>
          <p:nvPr/>
        </p:nvSpPr>
        <p:spPr>
          <a:xfrm>
            <a:off x="6825889" y="2455885"/>
            <a:ext cx="48530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/>
              <a:t>[</a:t>
            </a:r>
            <a:r>
              <a:rPr lang="ko-KR" altLang="en-US" sz="1500"/>
              <a:t>그림 </a:t>
            </a:r>
            <a:r>
              <a:rPr lang="en-US" altLang="ko-KR" sz="1500"/>
              <a:t>2] </a:t>
            </a:r>
            <a:r>
              <a:rPr lang="ko-KR" altLang="en-US" sz="1500"/>
              <a:t>정상 작동 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342F47-981D-B7EA-932B-F97EB1375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107" y="3587780"/>
            <a:ext cx="5150208" cy="3119369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12" name="모서리가 둥근 직사각형 17">
            <a:extLst>
              <a:ext uri="{FF2B5EF4-FFF2-40B4-BE49-F238E27FC236}">
                <a16:creationId xmlns:a16="http://schemas.microsoft.com/office/drawing/2014/main" id="{8FDAE6FD-CF9B-888F-7DEB-1D0EDD01AAE6}"/>
              </a:ext>
            </a:extLst>
          </p:cNvPr>
          <p:cNvSpPr/>
          <p:nvPr/>
        </p:nvSpPr>
        <p:spPr>
          <a:xfrm>
            <a:off x="6696788" y="4004442"/>
            <a:ext cx="5111281" cy="777765"/>
          </a:xfrm>
          <a:prstGeom prst="roundRect">
            <a:avLst>
              <a:gd name="adj" fmla="val 4080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7">
            <a:extLst>
              <a:ext uri="{FF2B5EF4-FFF2-40B4-BE49-F238E27FC236}">
                <a16:creationId xmlns:a16="http://schemas.microsoft.com/office/drawing/2014/main" id="{99D6192B-B2E8-304F-2C13-3F9A7725FCFC}"/>
              </a:ext>
            </a:extLst>
          </p:cNvPr>
          <p:cNvSpPr/>
          <p:nvPr/>
        </p:nvSpPr>
        <p:spPr>
          <a:xfrm>
            <a:off x="6643125" y="5109594"/>
            <a:ext cx="3467827" cy="777765"/>
          </a:xfrm>
          <a:prstGeom prst="roundRect">
            <a:avLst>
              <a:gd name="adj" fmla="val 40805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C66737-D487-FBB9-E6B3-513FE9DFA94E}"/>
              </a:ext>
            </a:extLst>
          </p:cNvPr>
          <p:cNvSpPr txBox="1"/>
          <p:nvPr/>
        </p:nvSpPr>
        <p:spPr>
          <a:xfrm>
            <a:off x="6788107" y="2846079"/>
            <a:ext cx="52777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/>
              <a:t>Ping </a:t>
            </a:r>
            <a:r>
              <a:rPr lang="ko-KR" altLang="en-US" sz="1500"/>
              <a:t>명령어로 아이피가 나오는 경우는 정상</a:t>
            </a:r>
            <a:r>
              <a:rPr lang="en-US" altLang="ko-KR" sz="1500"/>
              <a:t>(</a:t>
            </a:r>
            <a:r>
              <a:rPr lang="ko-KR" altLang="en-US" sz="1500"/>
              <a:t>파란상자</a:t>
            </a:r>
            <a:r>
              <a:rPr lang="en-US" altLang="ko-KR" sz="1500"/>
              <a:t>) </a:t>
            </a:r>
            <a:r>
              <a:rPr lang="ko-KR" altLang="en-US" sz="1500"/>
              <a:t>등록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33376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513</Words>
  <Application>Microsoft Office PowerPoint</Application>
  <PresentationFormat>와이드스크린</PresentationFormat>
  <Paragraphs>109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통합테스트 개발 환경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PM</dc:creator>
  <cp:lastModifiedBy>Chris K</cp:lastModifiedBy>
  <cp:revision>6</cp:revision>
  <dcterms:created xsi:type="dcterms:W3CDTF">2025-11-18T00:35:21Z</dcterms:created>
  <dcterms:modified xsi:type="dcterms:W3CDTF">2025-11-18T04:56:19Z</dcterms:modified>
</cp:coreProperties>
</file>